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70" r:id="rId10"/>
    <p:sldId id="269" r:id="rId11"/>
    <p:sldId id="263" r:id="rId12"/>
    <p:sldId id="264" r:id="rId13"/>
    <p:sldId id="265" r:id="rId14"/>
    <p:sldId id="275" r:id="rId15"/>
    <p:sldId id="274" r:id="rId16"/>
    <p:sldId id="276" r:id="rId17"/>
    <p:sldId id="266" r:id="rId18"/>
    <p:sldId id="267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2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094" y="557341"/>
            <a:ext cx="8837930" cy="1148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717" y="1902901"/>
            <a:ext cx="8519795" cy="4425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nsorflow.or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2400" y="228600"/>
            <a:ext cx="10058400" cy="7543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32203" y="5217719"/>
            <a:ext cx="4434205" cy="1501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400" b="1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MEMBER</a:t>
            </a:r>
            <a:r>
              <a:rPr lang="en-IN" sz="2400" b="1" dirty="0">
                <a:latin typeface="Times New Roman"/>
                <a:cs typeface="Times New Roman"/>
              </a:rPr>
              <a:t>S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551180" indent="-30416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51180" algn="l"/>
              </a:tabLst>
            </a:pPr>
            <a:r>
              <a:rPr sz="2400" dirty="0">
                <a:latin typeface="Times New Roman"/>
                <a:cs typeface="Times New Roman"/>
              </a:rPr>
              <a:t>24ADR015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Bhagyalakshmi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 marL="557530" indent="-30734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557530" algn="l"/>
                <a:tab pos="2232660" algn="l"/>
              </a:tabLst>
            </a:pPr>
            <a:r>
              <a:rPr sz="2400" spc="-10" dirty="0">
                <a:latin typeface="Times New Roman"/>
                <a:cs typeface="Times New Roman"/>
              </a:rPr>
              <a:t>24ADR042-</a:t>
            </a:r>
            <a:r>
              <a:rPr sz="2400" dirty="0">
                <a:latin typeface="Times New Roman"/>
                <a:cs typeface="Times New Roman"/>
              </a:rPr>
              <a:t>	Divya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 marL="566420" indent="-30734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566420" algn="l"/>
              </a:tabLst>
            </a:pPr>
            <a:r>
              <a:rPr sz="2400" dirty="0">
                <a:latin typeface="Times New Roman"/>
                <a:cs typeface="Times New Roman"/>
              </a:rPr>
              <a:t>24ADR002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Abinesh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D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147570" marR="5080" indent="492125">
              <a:lnSpc>
                <a:spcPts val="3170"/>
              </a:lnSpc>
              <a:spcBef>
                <a:spcPts val="195"/>
              </a:spcBef>
            </a:pPr>
            <a:r>
              <a:rPr sz="2650" spc="-10" dirty="0"/>
              <a:t>DEPARTMENT</a:t>
            </a:r>
            <a:r>
              <a:rPr sz="2650" spc="-75" dirty="0"/>
              <a:t> </a:t>
            </a:r>
            <a:r>
              <a:rPr sz="2650" dirty="0"/>
              <a:t>OF</a:t>
            </a:r>
            <a:r>
              <a:rPr sz="2650" spc="-55" dirty="0"/>
              <a:t> </a:t>
            </a:r>
            <a:r>
              <a:rPr sz="2650" spc="-10" dirty="0"/>
              <a:t>ARTIFICIAL INTELLIGENCE</a:t>
            </a:r>
            <a:r>
              <a:rPr sz="2650" spc="-105" dirty="0"/>
              <a:t> </a:t>
            </a:r>
            <a:r>
              <a:rPr sz="2650" dirty="0"/>
              <a:t>AND</a:t>
            </a:r>
            <a:r>
              <a:rPr sz="2650" spc="-70" dirty="0"/>
              <a:t> </a:t>
            </a:r>
            <a:r>
              <a:rPr sz="2650" dirty="0"/>
              <a:t>DATA</a:t>
            </a:r>
            <a:r>
              <a:rPr sz="2650" spc="-70" dirty="0"/>
              <a:t> </a:t>
            </a:r>
            <a:r>
              <a:rPr sz="2650" spc="-10" dirty="0"/>
              <a:t>SCIENCE</a:t>
            </a:r>
            <a:endParaRPr sz="2650"/>
          </a:p>
        </p:txBody>
      </p:sp>
      <p:sp>
        <p:nvSpPr>
          <p:cNvPr id="5" name="object 5"/>
          <p:cNvSpPr txBox="1"/>
          <p:nvPr/>
        </p:nvSpPr>
        <p:spPr>
          <a:xfrm>
            <a:off x="2997129" y="2974373"/>
            <a:ext cx="6163310" cy="827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USING CLIMATE DATA</a:t>
            </a:r>
            <a:endParaRPr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892" y="1316736"/>
            <a:ext cx="2788919" cy="1275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32" y="2127049"/>
            <a:ext cx="8718550" cy="536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Overview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364490" marR="5080" indent="-352425">
              <a:lnSpc>
                <a:spcPct val="100000"/>
              </a:lnSpc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338455" indent="-352425">
              <a:lnSpc>
                <a:spcPct val="100000"/>
              </a:lnSpc>
              <a:spcBef>
                <a:spcPts val="445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(MLP)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TensorFlow.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156210" indent="-352425">
              <a:lnSpc>
                <a:spcPct val="99800"/>
              </a:lnSpc>
              <a:spcBef>
                <a:spcPts val="450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selection,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918059"/>
          </a:xfrm>
          <a:prstGeom prst="rect">
            <a:avLst/>
          </a:prstGeom>
        </p:spPr>
        <p:txBody>
          <a:bodyPr vert="horz" wrap="square" lIns="0" tIns="375780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114"/>
              </a:spcBef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INTRODUCTION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963" y="1817000"/>
            <a:ext cx="8615045" cy="55060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69215" indent="-352425">
              <a:lnSpc>
                <a:spcPct val="100000"/>
              </a:lnSpc>
              <a:spcBef>
                <a:spcPts val="455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rainfall,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humidity,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quality.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5080" indent="-352425">
              <a:lnSpc>
                <a:spcPct val="100000"/>
              </a:lnSpc>
              <a:spcBef>
                <a:spcPts val="434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decisions,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loss,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Segoe UI Symbol"/>
              <a:buChar char="⮚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482600" indent="-352425">
              <a:lnSpc>
                <a:spcPct val="100000"/>
              </a:lnSpc>
              <a:spcBef>
                <a:spcPts val="455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796925" indent="-352425">
              <a:lnSpc>
                <a:spcPct val="100000"/>
              </a:lnSpc>
              <a:spcBef>
                <a:spcPts val="445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prediction.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490" marR="1073150" indent="-352425">
              <a:lnSpc>
                <a:spcPct val="100000"/>
              </a:lnSpc>
              <a:spcBef>
                <a:spcPts val="440"/>
              </a:spcBef>
              <a:buSzPct val="68181"/>
              <a:buFont typeface="Segoe UI Symbol"/>
              <a:buChar char="⮚"/>
              <a:tabLst>
                <a:tab pos="3644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decisions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833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PROBLEM STATEMENT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663" y="1060703"/>
            <a:ext cx="9357360" cy="6419215"/>
            <a:chOff x="359663" y="1060703"/>
            <a:chExt cx="9357360" cy="6419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3" y="1060703"/>
              <a:ext cx="9357360" cy="64190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528" y="7043927"/>
              <a:ext cx="685800" cy="7924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6101" y="1975358"/>
            <a:ext cx="70675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-105" dirty="0">
                <a:solidFill>
                  <a:srgbClr val="034211"/>
                </a:solidFill>
                <a:latin typeface="Calibri"/>
                <a:cs typeface="Calibri"/>
              </a:rPr>
              <a:t>2020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469" y="3192779"/>
            <a:ext cx="7010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14" dirty="0">
                <a:solidFill>
                  <a:srgbClr val="0C491F"/>
                </a:solidFill>
                <a:latin typeface="Arial MT"/>
                <a:cs typeface="Arial MT"/>
              </a:rPr>
              <a:t>2021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455" y="4322571"/>
            <a:ext cx="716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0" dirty="0">
                <a:solidFill>
                  <a:srgbClr val="0A4F1C"/>
                </a:solidFill>
                <a:latin typeface="Calibri"/>
                <a:cs typeface="Calibri"/>
              </a:rPr>
              <a:t>2022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869" y="5506211"/>
            <a:ext cx="720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2A2A2A"/>
                </a:solidFill>
                <a:latin typeface="Calibri"/>
                <a:cs typeface="Calibri"/>
              </a:rPr>
              <a:t>2023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869" y="6652259"/>
            <a:ext cx="7143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0F4D1A"/>
                </a:solidFill>
                <a:latin typeface="Calibri"/>
                <a:cs typeface="Calibri"/>
              </a:rPr>
              <a:t>2024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01248" y="169442"/>
            <a:ext cx="73887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ITERATURE</a:t>
            </a:r>
            <a:r>
              <a:rPr sz="3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URVEY 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1919" y="1937511"/>
            <a:ext cx="142811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145" marR="5080" indent="-5080">
              <a:lnSpc>
                <a:spcPct val="101099"/>
              </a:lnSpc>
              <a:spcBef>
                <a:spcPts val="75"/>
              </a:spcBef>
            </a:pPr>
            <a:r>
              <a:rPr sz="1900" spc="-80" dirty="0">
                <a:latin typeface="Arial MT"/>
                <a:cs typeface="Arial MT"/>
              </a:rPr>
              <a:t>Multiple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135" dirty="0">
                <a:latin typeface="Arial MT"/>
                <a:cs typeface="Arial MT"/>
              </a:rPr>
              <a:t>Linear </a:t>
            </a:r>
            <a:r>
              <a:rPr sz="1900" spc="-65" dirty="0">
                <a:latin typeface="Arial MT"/>
                <a:cs typeface="Arial MT"/>
              </a:rPr>
              <a:t>Regression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28495" y="3104388"/>
            <a:ext cx="1313180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</a:pPr>
            <a:r>
              <a:rPr sz="2000" spc="-60" dirty="0">
                <a:latin typeface="Calibri"/>
                <a:cs typeface="Calibri"/>
              </a:rPr>
              <a:t>Decision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85" dirty="0">
                <a:latin typeface="Calibri"/>
                <a:cs typeface="Calibri"/>
              </a:rPr>
              <a:t>Tree</a:t>
            </a:r>
            <a:endParaRPr sz="2000">
              <a:latin typeface="Calibri"/>
              <a:cs typeface="Calibri"/>
            </a:endParaRPr>
          </a:p>
          <a:p>
            <a:pPr marL="13970">
              <a:lnSpc>
                <a:spcPts val="2330"/>
              </a:lnSpc>
            </a:pPr>
            <a:r>
              <a:rPr sz="1950" spc="-10" dirty="0">
                <a:latin typeface="Calibri"/>
                <a:cs typeface="Calibri"/>
              </a:rPr>
              <a:t>Algorithm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9562" y="4288028"/>
            <a:ext cx="1518285" cy="59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700" baseline="1543" dirty="0">
                <a:latin typeface="Calibri"/>
                <a:cs typeface="Calibri"/>
              </a:rPr>
              <a:t>Artificial</a:t>
            </a:r>
            <a:r>
              <a:rPr sz="2700" spc="120" baseline="1543" dirty="0">
                <a:latin typeface="Calibri"/>
                <a:cs typeface="Calibri"/>
              </a:rPr>
              <a:t> </a:t>
            </a:r>
            <a:r>
              <a:rPr sz="2700" spc="-15" baseline="1543" dirty="0">
                <a:latin typeface="Calibri"/>
                <a:cs typeface="Calibri"/>
              </a:rPr>
              <a:t>Ne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2700" spc="-15" baseline="1543" dirty="0">
                <a:latin typeface="Calibri"/>
                <a:cs typeface="Calibri"/>
              </a:rPr>
              <a:t>ral</a:t>
            </a:r>
            <a:endParaRPr sz="2700" baseline="1543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-50" dirty="0">
                <a:latin typeface="Calibri"/>
                <a:cs typeface="Calibri"/>
              </a:rPr>
              <a:t>Network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(ANN)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9562" y="5412232"/>
            <a:ext cx="1688464" cy="6140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25"/>
              </a:spcBef>
            </a:pPr>
            <a:r>
              <a:rPr sz="1900" spc="-60" dirty="0">
                <a:latin typeface="Calibri"/>
                <a:cs typeface="Calibri"/>
              </a:rPr>
              <a:t>Multi-</a:t>
            </a:r>
            <a:r>
              <a:rPr sz="1900" spc="-20" dirty="0">
                <a:latin typeface="Calibri"/>
                <a:cs typeface="Calibri"/>
              </a:rPr>
              <a:t>Layer </a:t>
            </a:r>
            <a:r>
              <a:rPr sz="1900" spc="-50" dirty="0">
                <a:latin typeface="Calibri"/>
                <a:cs typeface="Calibri"/>
              </a:rPr>
              <a:t>Perceptron</a:t>
            </a:r>
            <a:r>
              <a:rPr sz="1900" spc="-20" dirty="0">
                <a:latin typeface="Calibri"/>
                <a:cs typeface="Calibri"/>
              </a:rPr>
              <a:t> (MLP)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29029" y="6554978"/>
            <a:ext cx="144716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Calibri"/>
                <a:cs typeface="Calibri"/>
              </a:rPr>
              <a:t>Deep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Learning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7406" y="1778761"/>
            <a:ext cx="3285490" cy="914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905">
              <a:lnSpc>
                <a:spcPct val="99500"/>
              </a:lnSpc>
              <a:spcBef>
                <a:spcPts val="110"/>
              </a:spcBef>
            </a:pPr>
            <a:r>
              <a:rPr sz="1950" spc="-20" dirty="0">
                <a:latin typeface="Calibri"/>
                <a:cs typeface="Calibri"/>
              </a:rPr>
              <a:t>Used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spc="-75" dirty="0">
                <a:latin typeface="Calibri"/>
                <a:cs typeface="Calibri"/>
              </a:rPr>
              <a:t>climate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60" dirty="0">
                <a:latin typeface="Calibri"/>
                <a:cs typeface="Calibri"/>
              </a:rPr>
              <a:t>factors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like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rainfall, </a:t>
            </a:r>
            <a:r>
              <a:rPr sz="1950" spc="-110" dirty="0">
                <a:latin typeface="Calibri"/>
                <a:cs typeface="Calibri"/>
              </a:rPr>
              <a:t>temperature</a:t>
            </a:r>
            <a:r>
              <a:rPr sz="1950" spc="85" dirty="0">
                <a:latin typeface="Calibri"/>
                <a:cs typeface="Calibri"/>
              </a:rPr>
              <a:t> </a:t>
            </a:r>
            <a:r>
              <a:rPr sz="1950" spc="-90" dirty="0">
                <a:latin typeface="Calibri"/>
                <a:cs typeface="Calibri"/>
              </a:rPr>
              <a:t>and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spc="-110" dirty="0">
                <a:latin typeface="Calibri"/>
                <a:cs typeface="Calibri"/>
              </a:rPr>
              <a:t>humidity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90" dirty="0">
                <a:latin typeface="Calibri"/>
                <a:cs typeface="Calibri"/>
              </a:rPr>
              <a:t>for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basic </a:t>
            </a:r>
            <a:r>
              <a:rPr sz="1950" spc="-50" dirty="0">
                <a:latin typeface="Calibri"/>
                <a:cs typeface="Calibri"/>
              </a:rPr>
              <a:t>crop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85" dirty="0">
                <a:latin typeface="Calibri"/>
                <a:cs typeface="Calibri"/>
              </a:rPr>
              <a:t>yield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prediction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01139" y="3123438"/>
            <a:ext cx="3465829" cy="6032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955" marR="5080" indent="-8890">
              <a:lnSpc>
                <a:spcPts val="2330"/>
              </a:lnSpc>
              <a:spcBef>
                <a:spcPts val="85"/>
              </a:spcBef>
            </a:pPr>
            <a:r>
              <a:rPr sz="1850" spc="-90" dirty="0">
                <a:latin typeface="Arial MT"/>
                <a:cs typeface="Arial MT"/>
              </a:rPr>
              <a:t>Improved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65" dirty="0">
                <a:latin typeface="Arial MT"/>
                <a:cs typeface="Arial MT"/>
              </a:rPr>
              <a:t>prediction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by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considering </a:t>
            </a:r>
            <a:r>
              <a:rPr sz="1850" spc="-100" dirty="0">
                <a:latin typeface="Arial MT"/>
                <a:cs typeface="Arial MT"/>
              </a:rPr>
              <a:t>soil</a:t>
            </a:r>
            <a:r>
              <a:rPr sz="1850" spc="-45" dirty="0">
                <a:latin typeface="Arial MT"/>
                <a:cs typeface="Arial MT"/>
              </a:rPr>
              <a:t> </a:t>
            </a:r>
            <a:r>
              <a:rPr sz="1850" spc="-75" dirty="0">
                <a:latin typeface="Arial MT"/>
                <a:cs typeface="Arial MT"/>
              </a:rPr>
              <a:t>nutrients</a:t>
            </a:r>
            <a:r>
              <a:rPr sz="1850" spc="-55" dirty="0">
                <a:latin typeface="Arial MT"/>
                <a:cs typeface="Arial MT"/>
              </a:rPr>
              <a:t> </a:t>
            </a:r>
            <a:r>
              <a:rPr sz="1850" spc="-120" dirty="0">
                <a:latin typeface="Arial MT"/>
                <a:cs typeface="Arial MT"/>
              </a:rPr>
              <a:t>and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spc="-90" dirty="0">
                <a:latin typeface="Arial MT"/>
                <a:cs typeface="Arial MT"/>
              </a:rPr>
              <a:t>weather</a:t>
            </a:r>
            <a:r>
              <a:rPr sz="1850" spc="70" dirty="0">
                <a:latin typeface="Arial MT"/>
                <a:cs typeface="Arial MT"/>
              </a:rPr>
              <a:t> </a:t>
            </a:r>
            <a:r>
              <a:rPr sz="1850" spc="-85" dirty="0">
                <a:latin typeface="Arial MT"/>
                <a:cs typeface="Arial MT"/>
              </a:rPr>
              <a:t>conditions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98455" y="4122673"/>
            <a:ext cx="3453129" cy="911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3175" algn="just">
              <a:lnSpc>
                <a:spcPct val="99000"/>
              </a:lnSpc>
              <a:spcBef>
                <a:spcPts val="120"/>
              </a:spcBef>
            </a:pPr>
            <a:r>
              <a:rPr sz="1950" spc="-40" dirty="0">
                <a:latin typeface="Calibri"/>
                <a:cs typeface="Calibri"/>
              </a:rPr>
              <a:t>Enhanced </a:t>
            </a:r>
            <a:r>
              <a:rPr sz="1950" spc="-70" dirty="0">
                <a:latin typeface="Calibri"/>
                <a:cs typeface="Calibri"/>
              </a:rPr>
              <a:t>prediction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spc="-60" dirty="0">
                <a:latin typeface="Calibri"/>
                <a:cs typeface="Calibri"/>
              </a:rPr>
              <a:t>accuracy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using </a:t>
            </a:r>
            <a:r>
              <a:rPr sz="1950" spc="-75" dirty="0">
                <a:latin typeface="Calibri"/>
                <a:cs typeface="Calibri"/>
              </a:rPr>
              <a:t>multiple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85" dirty="0">
                <a:latin typeface="Calibri"/>
                <a:cs typeface="Calibri"/>
              </a:rPr>
              <a:t>input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85" dirty="0">
                <a:latin typeface="Calibri"/>
                <a:cs typeface="Calibri"/>
              </a:rPr>
              <a:t>features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-80" dirty="0">
                <a:latin typeface="Calibri"/>
                <a:cs typeface="Calibri"/>
              </a:rPr>
              <a:t>and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historical </a:t>
            </a:r>
            <a:r>
              <a:rPr sz="1950" spc="-20" dirty="0">
                <a:latin typeface="Calibri"/>
                <a:cs typeface="Calibri"/>
              </a:rPr>
              <a:t>data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99974" y="5280914"/>
            <a:ext cx="3734435" cy="90678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 indent="1905">
              <a:lnSpc>
                <a:spcPts val="2300"/>
              </a:lnSpc>
              <a:spcBef>
                <a:spcPts val="209"/>
              </a:spcBef>
            </a:pPr>
            <a:r>
              <a:rPr sz="1950" spc="-60" dirty="0">
                <a:latin typeface="Calibri"/>
                <a:cs typeface="Calibri"/>
              </a:rPr>
              <a:t>Provided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65" dirty="0">
                <a:latin typeface="Calibri"/>
                <a:cs typeface="Calibri"/>
              </a:rPr>
              <a:t>better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85" dirty="0">
                <a:latin typeface="Calibri"/>
                <a:cs typeface="Calibri"/>
              </a:rPr>
              <a:t>performance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for </a:t>
            </a:r>
            <a:r>
              <a:rPr sz="1950" spc="-60" dirty="0">
                <a:latin typeface="Calibri"/>
                <a:cs typeface="Calibri"/>
              </a:rPr>
              <a:t>complex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spc="-65" dirty="0">
                <a:latin typeface="Calibri"/>
                <a:cs typeface="Calibri"/>
              </a:rPr>
              <a:t>relstionships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85" dirty="0">
                <a:latin typeface="Calibri"/>
                <a:cs typeface="Calibri"/>
              </a:rPr>
              <a:t>between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55" dirty="0">
                <a:latin typeface="Calibri"/>
                <a:cs typeface="Calibri"/>
              </a:rPr>
              <a:t>climate, </a:t>
            </a:r>
            <a:r>
              <a:rPr sz="1900" spc="-10" dirty="0">
                <a:latin typeface="Calibri"/>
                <a:cs typeface="Calibri"/>
              </a:rPr>
              <a:t>soil</a:t>
            </a:r>
            <a:r>
              <a:rPr sz="1900" spc="-1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crop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yield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95635" y="6416249"/>
            <a:ext cx="3419475" cy="915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12100"/>
              </a:lnSpc>
              <a:spcBef>
                <a:spcPts val="95"/>
              </a:spcBef>
            </a:pPr>
            <a:r>
              <a:rPr sz="1800" spc="-55" dirty="0">
                <a:latin typeface="Arial MT"/>
                <a:cs typeface="Arial MT"/>
              </a:rPr>
              <a:t>Improved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crop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yield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prediction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700" spc="55" dirty="0">
                <a:latin typeface="Arial MT"/>
                <a:cs typeface="Arial MT"/>
              </a:rPr>
              <a:t>suppols </a:t>
            </a:r>
            <a:r>
              <a:rPr sz="1700" spc="145" dirty="0">
                <a:latin typeface="Arial MT"/>
                <a:cs typeface="Arial MT"/>
              </a:rPr>
              <a:t>smal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farming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-40" dirty="0">
                <a:latin typeface="Arial MT"/>
                <a:cs typeface="Arial MT"/>
              </a:rPr>
              <a:t>and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decision </a:t>
            </a:r>
            <a:r>
              <a:rPr sz="1700" spc="-10" dirty="0">
                <a:latin typeface="Arial MT"/>
                <a:cs typeface="Arial MT"/>
              </a:rPr>
              <a:t>making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0569" rIns="0" bIns="0" rtlCol="0">
            <a:spAutoFit/>
          </a:bodyPr>
          <a:lstStyle/>
          <a:p>
            <a:pPr marL="2494915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7888" y="2579565"/>
            <a:ext cx="7506334" cy="37670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05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sz="2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99440">
              <a:lnSpc>
                <a:spcPct val="100000"/>
              </a:lnSpc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sz="28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4293" rIns="0" bIns="0" rtlCol="0">
            <a:spAutoFit/>
          </a:bodyPr>
          <a:lstStyle/>
          <a:p>
            <a:pPr marL="277241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05" dirty="0"/>
              <a:t> </a:t>
            </a:r>
            <a:r>
              <a:rPr spc="-20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1768161"/>
            <a:ext cx="8837930" cy="556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0700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sz="24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decisions.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207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r>
              <a:rPr sz="24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(MLP)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prediction.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weather,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soil,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normalization,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40690">
              <a:lnSpc>
                <a:spcPct val="100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reliability.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490B-269A-E977-865C-34901C2A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FC5173-6DE5-5864-C039-6C5177F1C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06951"/>
          </a:xfrm>
          <a:prstGeom prst="rect">
            <a:avLst/>
          </a:prstGeom>
        </p:spPr>
        <p:txBody>
          <a:bodyPr vert="horz" wrap="square" lIns="0" tIns="494293" rIns="0" bIns="0" rtlCol="0">
            <a:spAutoFit/>
          </a:bodyPr>
          <a:lstStyle/>
          <a:p>
            <a:pPr marL="2772410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FLOW DIAGRAM</a:t>
            </a:r>
            <a:endParaRPr spc="-20" dirty="0"/>
          </a:p>
        </p:txBody>
      </p:sp>
      <p:sp>
        <p:nvSpPr>
          <p:cNvPr id="4" name="AutoShape 2" descr="Crop yield prediction workflow diagram">
            <a:extLst>
              <a:ext uri="{FF2B5EF4-FFF2-40B4-BE49-F238E27FC236}">
                <a16:creationId xmlns:a16="http://schemas.microsoft.com/office/drawing/2014/main" id="{6AEBE992-AC87-F7E5-3B7C-87B56933D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Crop yield prediction workflow diagram">
            <a:extLst>
              <a:ext uri="{FF2B5EF4-FFF2-40B4-BE49-F238E27FC236}">
                <a16:creationId xmlns:a16="http://schemas.microsoft.com/office/drawing/2014/main" id="{28F66D19-CE72-8061-FC9C-01EADF6F97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3000" y="1904999"/>
            <a:ext cx="8432024" cy="490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AutoShape 8" descr="Crop yield prediction workflow diagram">
            <a:extLst>
              <a:ext uri="{FF2B5EF4-FFF2-40B4-BE49-F238E27FC236}">
                <a16:creationId xmlns:a16="http://schemas.microsoft.com/office/drawing/2014/main" id="{8F708815-05A1-12B5-DD83-2B6AEBD3C56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81200" y="2286000"/>
            <a:ext cx="71628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0" descr="Crop yield prediction workflow diagram">
            <a:extLst>
              <a:ext uri="{FF2B5EF4-FFF2-40B4-BE49-F238E27FC236}">
                <a16:creationId xmlns:a16="http://schemas.microsoft.com/office/drawing/2014/main" id="{48B49DE1-A2CC-D442-6611-CF557B38F1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 descr="Crop yield prediction workflow diagram">
            <a:extLst>
              <a:ext uri="{FF2B5EF4-FFF2-40B4-BE49-F238E27FC236}">
                <a16:creationId xmlns:a16="http://schemas.microsoft.com/office/drawing/2014/main" id="{0D6E71BB-E52C-A8A0-D828-BB317DF7A9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1600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4" descr="Crop yield prediction workflow diagram">
            <a:extLst>
              <a:ext uri="{FF2B5EF4-FFF2-40B4-BE49-F238E27FC236}">
                <a16:creationId xmlns:a16="http://schemas.microsoft.com/office/drawing/2014/main" id="{CD3E827C-0AB2-9C7F-B0EE-14705C9F19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894552-62D0-171E-600A-58CA09C75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47062"/>
            <a:ext cx="8534400" cy="536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7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77621"/>
          </a:xfrm>
          <a:prstGeom prst="rect">
            <a:avLst/>
          </a:prstGeom>
        </p:spPr>
        <p:txBody>
          <a:bodyPr vert="horz" wrap="square" lIns="0" tIns="564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    DATASET DESCRIPTION </a:t>
            </a:r>
            <a:endParaRPr spc="-1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97B575-91E1-D41C-4933-7B1EE223F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972226"/>
              </p:ext>
            </p:extLst>
          </p:nvPr>
        </p:nvGraphicFramePr>
        <p:xfrm>
          <a:off x="1143000" y="1828799"/>
          <a:ext cx="8432024" cy="549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804594928"/>
                    </a:ext>
                  </a:extLst>
                </a:gridCol>
                <a:gridCol w="2463412">
                  <a:extLst>
                    <a:ext uri="{9D8B030D-6E8A-4147-A177-3AD203B41FA5}">
                      <a16:colId xmlns:a16="http://schemas.microsoft.com/office/drawing/2014/main" val="1759809888"/>
                    </a:ext>
                  </a:extLst>
                </a:gridCol>
                <a:gridCol w="2108006">
                  <a:extLst>
                    <a:ext uri="{9D8B030D-6E8A-4147-A177-3AD203B41FA5}">
                      <a16:colId xmlns:a16="http://schemas.microsoft.com/office/drawing/2014/main" val="960636098"/>
                    </a:ext>
                  </a:extLst>
                </a:gridCol>
                <a:gridCol w="2108006">
                  <a:extLst>
                    <a:ext uri="{9D8B030D-6E8A-4147-A177-3AD203B41FA5}">
                      <a16:colId xmlns:a16="http://schemas.microsoft.com/office/drawing/2014/main" val="1781813374"/>
                    </a:ext>
                  </a:extLst>
                </a:gridCol>
              </a:tblGrid>
              <a:tr h="1077252">
                <a:tc>
                  <a:txBody>
                    <a:bodyPr/>
                    <a:lstStyle/>
                    <a:p>
                      <a:r>
                        <a:rPr lang="en-IN" dirty="0"/>
                        <a:t>Column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Column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83312"/>
                  </a:ext>
                </a:extLst>
              </a:tr>
              <a:tr h="107725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Farming region (North, South, East, West)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057950"/>
                  </a:ext>
                </a:extLst>
              </a:tr>
              <a:tr h="1077252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Soil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soil (Clay, Sandy, Loam, Peaty, Silt, Chalky)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18786"/>
                  </a:ext>
                </a:extLst>
              </a:tr>
              <a:tr h="1077252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Crop 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Crop grown (Rice, Wheat, Maize, Cotton, Soybean, Barley)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17763"/>
                  </a:ext>
                </a:extLst>
              </a:tr>
              <a:tr h="1077252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Rainfall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Amount of rainfall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337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7FBC-6D49-3EFC-7BE0-6DAF43D9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170DB0-E97B-D019-A6EE-750FDFB359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77621"/>
          </a:xfrm>
          <a:prstGeom prst="rect">
            <a:avLst/>
          </a:prstGeom>
        </p:spPr>
        <p:txBody>
          <a:bodyPr vert="horz" wrap="square" lIns="0" tIns="564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    DATASET DESCRIPTION </a:t>
            </a:r>
            <a:endParaRPr spc="-1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A25A71-C0A8-B233-91D4-04CFB6F50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97874"/>
              </p:ext>
            </p:extLst>
          </p:nvPr>
        </p:nvGraphicFramePr>
        <p:xfrm>
          <a:off x="1219200" y="1752600"/>
          <a:ext cx="8355824" cy="547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956">
                  <a:extLst>
                    <a:ext uri="{9D8B030D-6E8A-4147-A177-3AD203B41FA5}">
                      <a16:colId xmlns:a16="http://schemas.microsoft.com/office/drawing/2014/main" val="817314493"/>
                    </a:ext>
                  </a:extLst>
                </a:gridCol>
                <a:gridCol w="2088956">
                  <a:extLst>
                    <a:ext uri="{9D8B030D-6E8A-4147-A177-3AD203B41FA5}">
                      <a16:colId xmlns:a16="http://schemas.microsoft.com/office/drawing/2014/main" val="3954296790"/>
                    </a:ext>
                  </a:extLst>
                </a:gridCol>
                <a:gridCol w="2088956">
                  <a:extLst>
                    <a:ext uri="{9D8B030D-6E8A-4147-A177-3AD203B41FA5}">
                      <a16:colId xmlns:a16="http://schemas.microsoft.com/office/drawing/2014/main" val="3454746782"/>
                    </a:ext>
                  </a:extLst>
                </a:gridCol>
                <a:gridCol w="2088956">
                  <a:extLst>
                    <a:ext uri="{9D8B030D-6E8A-4147-A177-3AD203B41FA5}">
                      <a16:colId xmlns:a16="http://schemas.microsoft.com/office/drawing/2014/main" val="783752047"/>
                    </a:ext>
                  </a:extLst>
                </a:gridCol>
              </a:tblGrid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Temperature in 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23447"/>
                  </a:ext>
                </a:extLst>
              </a:tr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Fertilizer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Whether fertilizer was used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8448"/>
                  </a:ext>
                </a:extLst>
              </a:tr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Irrigation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Whether irrigation was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86325"/>
                  </a:ext>
                </a:extLst>
              </a:tr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Weather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Weather condition (Sunny, Rainy, Cloudy)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9702"/>
                  </a:ext>
                </a:extLst>
              </a:tr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Days_to_Harvest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days taken for harvest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042468"/>
                  </a:ext>
                </a:extLst>
              </a:tr>
              <a:tr h="910410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Yield_ton_per_hectare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Crop yield/production per hectare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(Target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8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266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3FA9-4F39-7CF1-4B60-9E596727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73FFC0-73F9-931C-AF49-FD5949A9F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77621"/>
          </a:xfrm>
          <a:prstGeom prst="rect">
            <a:avLst/>
          </a:prstGeom>
        </p:spPr>
        <p:txBody>
          <a:bodyPr vert="horz" wrap="square" lIns="0" tIns="564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             </a:t>
            </a:r>
            <a:r>
              <a:rPr dirty="0"/>
              <a:t>SOFTWARE</a:t>
            </a:r>
            <a:r>
              <a:rPr spc="-9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2B67AC-29E7-10C0-7CAE-A0255291E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214" y="2057400"/>
            <a:ext cx="8837930" cy="44262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26390" indent="-313690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10/11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6390" indent="-313690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26390" indent="-3136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63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6390" indent="-3136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639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6390" indent="-3136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63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spc="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</a:t>
            </a:r>
          </a:p>
          <a:p>
            <a:pPr marL="326390" indent="-3136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639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26390" indent="-31369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263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Notebook,</a:t>
            </a:r>
            <a:r>
              <a:rPr sz="2400" b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6390" indent="-31369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2639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26390" indent="-31369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263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Handling: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sz="2400" b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sz="2400" b="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climate,</a:t>
            </a:r>
            <a:r>
              <a:rPr sz="2400" b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soil,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24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6858" rIns="0" bIns="0" rtlCol="0">
            <a:spAutoFit/>
          </a:bodyPr>
          <a:lstStyle/>
          <a:p>
            <a:pPr marL="118300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MODULES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90599" y="1524000"/>
            <a:ext cx="8837930" cy="5998478"/>
          </a:xfrm>
          <a:prstGeom prst="rect">
            <a:avLst/>
          </a:prstGeom>
        </p:spPr>
        <p:txBody>
          <a:bodyPr vert="horz" wrap="square" lIns="0" tIns="614022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</a:p>
          <a:p>
            <a:pPr marL="143510" marR="424815" indent="558800">
              <a:lnSpc>
                <a:spcPts val="2380"/>
              </a:lnSpc>
              <a:spcBef>
                <a:spcPts val="80"/>
              </a:spcBef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</a:t>
            </a:r>
            <a:r>
              <a:rPr sz="2400" b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normalization,</a:t>
            </a:r>
            <a:r>
              <a:rPr sz="2400" b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selection.</a:t>
            </a:r>
            <a:r>
              <a:rPr sz="2400" b="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sz="2400" b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2400" b="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b="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 marR="424815" indent="558800">
              <a:lnSpc>
                <a:spcPts val="2380"/>
              </a:lnSpc>
              <a:spcBef>
                <a:spcPts val="80"/>
              </a:spcBef>
            </a:pPr>
            <a:endParaRPr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>
              <a:lnSpc>
                <a:spcPts val="2285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</a:p>
          <a:p>
            <a:pPr marL="143510" marR="787400" indent="558800">
              <a:lnSpc>
                <a:spcPts val="2380"/>
              </a:lnSpc>
              <a:spcBef>
                <a:spcPts val="80"/>
              </a:spcBef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</a:t>
            </a:r>
            <a:r>
              <a:rPr sz="2400" b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b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b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400" b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 marR="787400" indent="558800">
              <a:lnSpc>
                <a:spcPts val="2380"/>
              </a:lnSpc>
              <a:spcBef>
                <a:spcPts val="80"/>
              </a:spcBef>
            </a:pPr>
            <a:endParaRPr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>
              <a:lnSpc>
                <a:spcPts val="2285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</a:p>
          <a:p>
            <a:pPr marL="143510" marR="284480" indent="558800">
              <a:lnSpc>
                <a:spcPct val="101499"/>
              </a:lnSpc>
              <a:spcBef>
                <a:spcPts val="5"/>
              </a:spcBef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400" b="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b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sz="2400" b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sz="2400" b="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400" b="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loss.</a:t>
            </a:r>
            <a:endParaRPr lang="en-IN" sz="2400" b="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 marR="284480" indent="558800">
              <a:lnSpc>
                <a:spcPct val="101499"/>
              </a:lnSpc>
              <a:spcBef>
                <a:spcPts val="5"/>
              </a:spcBef>
            </a:pPr>
            <a:endParaRPr sz="2400" b="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</a:p>
          <a:p>
            <a:pPr marL="143510" marR="5080" indent="558800">
              <a:lnSpc>
                <a:spcPct val="101499"/>
              </a:lnSpc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</a:t>
            </a:r>
            <a:r>
              <a:rPr sz="2400" b="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b="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400" b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</a:t>
            </a:r>
            <a:r>
              <a:rPr sz="2400" b="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b="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sz="2400" b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b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400" b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2772" y="405240"/>
            <a:ext cx="6096000" cy="5533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3500" dirty="0">
                <a:latin typeface="Times New Roman"/>
                <a:cs typeface="Times New Roman"/>
              </a:rPr>
              <a:t>PROJECT SCREENSHOT</a:t>
            </a:r>
            <a:endParaRPr sz="35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7" y="1037844"/>
            <a:ext cx="9148571" cy="32080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487" y="4325111"/>
            <a:ext cx="9148571" cy="32125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436882"/>
            <a:ext cx="7010400" cy="5533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3500" dirty="0">
                <a:latin typeface="Times New Roman"/>
                <a:cs typeface="Times New Roman"/>
              </a:rPr>
              <a:t>      PROJECT SCREENSHOT</a:t>
            </a:r>
            <a:endParaRPr sz="35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51" y="1104900"/>
            <a:ext cx="9375648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2926-9480-9E0E-658A-E62F7553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C70612-AFDC-134B-CDE7-CF12F00F1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49932"/>
          </a:xfrm>
          <a:prstGeom prst="rect">
            <a:avLst/>
          </a:prstGeom>
        </p:spPr>
        <p:txBody>
          <a:bodyPr vert="horz" wrap="square" lIns="0" tIns="536858" rIns="0" bIns="0" rtlCol="0">
            <a:spAutoFit/>
          </a:bodyPr>
          <a:lstStyle/>
          <a:p>
            <a:pPr marL="118300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PERFORMANCE METRICS</a:t>
            </a:r>
            <a:endParaRPr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D0B30A1-82D8-5FA2-0C83-7752C813FC1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90600" y="1668115"/>
                <a:ext cx="8837930" cy="7495875"/>
              </a:xfrm>
              <a:prstGeom prst="rect">
                <a:avLst/>
              </a:prstGeom>
            </p:spPr>
            <p:txBody>
              <a:bodyPr vert="horz" wrap="square" lIns="0" tIns="614022" rIns="0" bIns="0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Mean Absolute Error (MAE)</a:t>
                </a: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average difference between actual and predicted crop yield values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Obtained Value: 0.4818 tonnes/hectare</a:t>
                </a:r>
              </a:p>
              <a:p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Root Mean Squared Error (RMSE)</a:t>
                </a: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overall prediction error of the model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Obtained Value: 0.5938 tonnes/hectare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R² Score</a:t>
                </a: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Indicates how well the model predicts crop yield values.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Obtained Value: 0.8763 (87.63% accuracy)</a:t>
                </a:r>
              </a:p>
              <a:p>
                <a:endParaRPr lang="en-IN" b="0" dirty="0"/>
              </a:p>
              <a:p>
                <a:endParaRPr lang="en-IN" b="0" dirty="0"/>
              </a:p>
              <a:p>
                <a:endParaRPr lang="en-IN" b="0" dirty="0"/>
              </a:p>
              <a:p>
                <a:endParaRPr lang="en-IN" b="0" dirty="0"/>
              </a:p>
              <a:p>
                <a:pPr marL="143510">
                  <a:lnSpc>
                    <a:spcPct val="100000"/>
                  </a:lnSpc>
                  <a:spcBef>
                    <a:spcPts val="130"/>
                  </a:spcBef>
                </a:pPr>
                <a:endParaRPr b="0" spc="-1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D0B30A1-82D8-5FA2-0C83-7752C813FC1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0600" y="1668115"/>
                <a:ext cx="8837930" cy="7495875"/>
              </a:xfrm>
              <a:prstGeom prst="rect">
                <a:avLst/>
              </a:prstGeom>
              <a:blipFill>
                <a:blip r:embed="rId2"/>
                <a:stretch>
                  <a:fillRect l="-1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56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96F44-5689-74ED-17C7-738BC756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BE2818-D5DC-86C9-BDE2-F4568C01F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49932"/>
          </a:xfrm>
          <a:prstGeom prst="rect">
            <a:avLst/>
          </a:prstGeom>
        </p:spPr>
        <p:txBody>
          <a:bodyPr vert="horz" wrap="square" lIns="0" tIns="536858" rIns="0" bIns="0" rtlCol="0">
            <a:spAutoFit/>
          </a:bodyPr>
          <a:lstStyle/>
          <a:p>
            <a:pPr marL="118300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RESULT ACHIEVED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A44BAA-06CC-5D13-93F9-3AD5B16BD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800" y="1668114"/>
            <a:ext cx="8508224" cy="5403379"/>
          </a:xfrm>
          <a:prstGeom prst="rect">
            <a:avLst/>
          </a:prstGeom>
        </p:spPr>
        <p:txBody>
          <a:bodyPr vert="horz" wrap="square" lIns="0" tIns="614022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crop yield based on climate, soil, and farming data.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Crop Yield Prediction system using Deep Learning (MLP).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prediction performance with 87.63% accuracy. Obtained low error values: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MAE: 0.4818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/hectare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RMSE: 0.5938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/hectare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yield prediction for better agricultural planning.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make better farming decisions and increase productivity. </a:t>
            </a:r>
          </a:p>
          <a:p>
            <a:pPr marL="486410" indent="-342900">
              <a:lnSpc>
                <a:spcPct val="100000"/>
              </a:lnSpc>
              <a:spcBef>
                <a:spcPts val="130"/>
              </a:spcBef>
              <a:buFont typeface="Wingdings" panose="05000000000000000000" pitchFamily="2" charset="2"/>
              <a:buChar char="q"/>
            </a:pPr>
            <a:endParaRPr sz="20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876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16EF-F975-B8FC-BCAD-2EC647A9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73A38A-7781-6802-54CC-0F8212119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094" y="557341"/>
            <a:ext cx="8837930" cy="1049932"/>
          </a:xfrm>
          <a:prstGeom prst="rect">
            <a:avLst/>
          </a:prstGeom>
        </p:spPr>
        <p:txBody>
          <a:bodyPr vert="horz" wrap="square" lIns="0" tIns="536858" rIns="0" bIns="0" rtlCol="0">
            <a:spAutoFit/>
          </a:bodyPr>
          <a:lstStyle/>
          <a:p>
            <a:pPr marL="118300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  CONCLUSION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C7F8AFB-AC45-70F0-F04D-4E87E8C3B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599" y="1607274"/>
            <a:ext cx="8419571" cy="5372601"/>
          </a:xfrm>
          <a:prstGeom prst="rect">
            <a:avLst/>
          </a:prstGeom>
        </p:spPr>
        <p:txBody>
          <a:bodyPr vert="horz" wrap="square" lIns="0" tIns="614022" rIns="0" bIns="0" rtlCol="0">
            <a:sp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Crop Yield Prediction System was successfully developed using Deep Learning techniques.</a:t>
            </a:r>
          </a:p>
          <a:p>
            <a:br>
              <a:rPr lang="en-US" sz="2400" b="0" dirty="0"/>
            </a:b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analyzes factors such as soil type, rainfall, temperature, weather conditions, fertilizer usage, and irrigation to predict crop yield accurately.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87.63% accuracy with low error rates, showing effective prediction performance.</a:t>
            </a:r>
          </a:p>
          <a:p>
            <a:b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improve agricultural planning, supports smart farming, and assists farmers in making better decisions to increase crop productivity.</a:t>
            </a:r>
          </a:p>
          <a:p>
            <a:pPr marL="143510">
              <a:lnSpc>
                <a:spcPct val="100000"/>
              </a:lnSpc>
              <a:spcBef>
                <a:spcPts val="130"/>
              </a:spcBef>
            </a:pPr>
            <a:endParaRPr sz="20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66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214" rIns="0" bIns="0" rtlCol="0">
            <a:spAutoFit/>
          </a:bodyPr>
          <a:lstStyle/>
          <a:p>
            <a:pPr marL="29889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5616" y="1910528"/>
            <a:ext cx="7636509" cy="471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marR="5080" indent="-37846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Mingxing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Tan,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Quoc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V.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“Deep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Learning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for </a:t>
            </a:r>
            <a:r>
              <a:rPr sz="2200" dirty="0">
                <a:latin typeface="Arial MT"/>
                <a:cs typeface="Arial MT"/>
              </a:rPr>
              <a:t>Agricultural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Prediction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Systems”,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2020.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"/>
            </a:pPr>
            <a:endParaRPr sz="2200">
              <a:latin typeface="Arial MT"/>
              <a:cs typeface="Arial MT"/>
            </a:endParaRPr>
          </a:p>
          <a:p>
            <a:pPr marL="390525" marR="266065" indent="-378460">
              <a:lnSpc>
                <a:spcPct val="100000"/>
              </a:lnSpc>
              <a:buFont typeface="Wingdings"/>
              <a:buChar char="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Iam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Goodfellow,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Yoshua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Bengio,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Aaron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Courville,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“Deep </a:t>
            </a:r>
            <a:r>
              <a:rPr sz="2200" dirty="0">
                <a:latin typeface="Arial MT"/>
                <a:cs typeface="Arial MT"/>
              </a:rPr>
              <a:t>Learning”,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Press,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2016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"/>
            </a:pPr>
            <a:endParaRPr sz="2200">
              <a:latin typeface="Arial MT"/>
              <a:cs typeface="Arial MT"/>
            </a:endParaRPr>
          </a:p>
          <a:p>
            <a:pPr marL="390525" marR="2656205" indent="-378460">
              <a:lnSpc>
                <a:spcPct val="100000"/>
              </a:lnSpc>
              <a:buFont typeface="Wingdings"/>
              <a:buChar char="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TensorFlow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Official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Documentation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– </a:t>
            </a:r>
            <a:r>
              <a:rPr sz="2200" u="sng" spc="-10" dirty="0">
                <a:solidFill>
                  <a:srgbClr val="E2D600"/>
                </a:solidFill>
                <a:uFill>
                  <a:solidFill>
                    <a:srgbClr val="E2D600"/>
                  </a:solidFill>
                </a:uFill>
                <a:latin typeface="Arial MT"/>
                <a:cs typeface="Arial MT"/>
              </a:rPr>
              <a:t>https://</a:t>
            </a:r>
            <a:r>
              <a:rPr sz="2200" u="sng" spc="-10" dirty="0">
                <a:solidFill>
                  <a:srgbClr val="E2D600"/>
                </a:solidFill>
                <a:uFill>
                  <a:solidFill>
                    <a:srgbClr val="E2D600"/>
                  </a:solidFill>
                </a:uFill>
                <a:latin typeface="Arial MT"/>
                <a:cs typeface="Arial MT"/>
                <a:hlinkClick r:id="rId2"/>
              </a:rPr>
              <a:t>www.tensorflow.org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"/>
            </a:pPr>
            <a:endParaRPr sz="2200">
              <a:latin typeface="Arial MT"/>
              <a:cs typeface="Arial MT"/>
            </a:endParaRPr>
          </a:p>
          <a:p>
            <a:pPr marL="390525" indent="-377825">
              <a:lnSpc>
                <a:spcPct val="100000"/>
              </a:lnSpc>
              <a:buFont typeface="Wingdings"/>
              <a:buChar char="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Keras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Official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Documentation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u="sng" spc="-10" dirty="0">
                <a:solidFill>
                  <a:srgbClr val="E2D600"/>
                </a:solidFill>
                <a:uFill>
                  <a:solidFill>
                    <a:srgbClr val="E2D600"/>
                  </a:solidFill>
                </a:uFill>
                <a:latin typeface="Arial MT"/>
                <a:cs typeface="Arial MT"/>
              </a:rPr>
              <a:t>https://keras.io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"/>
            </a:pPr>
            <a:endParaRPr sz="2200">
              <a:latin typeface="Arial MT"/>
              <a:cs typeface="Arial MT"/>
            </a:endParaRPr>
          </a:p>
          <a:p>
            <a:pPr marL="390525" marR="79375" indent="-378460">
              <a:lnSpc>
                <a:spcPct val="100000"/>
              </a:lnSpc>
              <a:buFont typeface="Wingdings"/>
              <a:buChar char="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Research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Articles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Crop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Yield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Prediction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Machine </a:t>
            </a:r>
            <a:r>
              <a:rPr sz="2200" dirty="0">
                <a:latin typeface="Arial MT"/>
                <a:cs typeface="Arial MT"/>
              </a:rPr>
              <a:t>Learning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Deep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Learning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(IEEE,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Springer,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Elsevier Journals).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5491" y="3637240"/>
            <a:ext cx="49898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dirty="0">
                <a:latin typeface="Times New Roman"/>
                <a:cs typeface="Times New Roman"/>
              </a:rPr>
              <a:t>THANK</a:t>
            </a:r>
            <a:r>
              <a:rPr sz="6600" b="0" spc="-50" dirty="0">
                <a:latin typeface="Times New Roman"/>
                <a:cs typeface="Times New Roman"/>
              </a:rPr>
              <a:t> </a:t>
            </a:r>
            <a:r>
              <a:rPr sz="6600" b="0" spc="-25" dirty="0">
                <a:latin typeface="Times New Roman"/>
                <a:cs typeface="Times New Roman"/>
              </a:rPr>
              <a:t>YOU</a:t>
            </a:r>
            <a:endParaRPr sz="6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2D6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1098</Words>
  <Application>Microsoft Office PowerPoint</Application>
  <PresentationFormat>Custom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MT</vt:lpstr>
      <vt:lpstr>Calibri</vt:lpstr>
      <vt:lpstr>Cambria Math</vt:lpstr>
      <vt:lpstr>Segoe UI Symbol</vt:lpstr>
      <vt:lpstr>Times New Roman</vt:lpstr>
      <vt:lpstr>Wingdings</vt:lpstr>
      <vt:lpstr>Office Theme</vt:lpstr>
      <vt:lpstr>DEPARTMENT OF ARTIFICIAL INTELLIGENCE AND DATA SCIENCE</vt:lpstr>
      <vt:lpstr>                     INTRODUCTION</vt:lpstr>
      <vt:lpstr>             PROBLEM STATEMENT</vt:lpstr>
      <vt:lpstr>    LITERATURE SURVEY </vt:lpstr>
      <vt:lpstr>EXISTING SYSTEM</vt:lpstr>
      <vt:lpstr>PROPOSED IDEA</vt:lpstr>
      <vt:lpstr>FLOW DIAGRAM</vt:lpstr>
      <vt:lpstr>                 DATASET DESCRIPTION </vt:lpstr>
      <vt:lpstr>                 DATASET DESCRIPTION </vt:lpstr>
      <vt:lpstr>             SOFTWARE REQUIREMENTS</vt:lpstr>
      <vt:lpstr>MODULES WITH DESCRIPTION</vt:lpstr>
      <vt:lpstr>PROJECT SCREENSHOT</vt:lpstr>
      <vt:lpstr>      PROJECT SCREENSHOT</vt:lpstr>
      <vt:lpstr>    PERFORMANCE METRICS</vt:lpstr>
      <vt:lpstr>          RESULT ACHIEVED</vt:lpstr>
      <vt:lpstr>               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Dl report</dc:title>
  <dc:creator>abinesh abi</dc:creator>
  <cp:lastModifiedBy>Divya R</cp:lastModifiedBy>
  <cp:revision>4</cp:revision>
  <dcterms:created xsi:type="dcterms:W3CDTF">2026-05-27T15:41:54Z</dcterms:created>
  <dcterms:modified xsi:type="dcterms:W3CDTF">2026-05-28T01:57:39Z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2026-04-21T00:00:00Z</vt:filetime>
  </property>
  <property fmtid="{D5CDD505-2E9C-101B-9397-08002B2CF9AE}" pid="3" name="LastSaved">
    <vt:filetime>2026-05-27T00:00:00Z</vt:filetime>
  </property>
  <property fmtid="{D5CDD505-2E9C-101B-9397-08002B2CF9AE}" pid="4" name="Producer">
    <vt:lpwstr>Microsoft: Print To PDF</vt:lpwstr>
  </property>
</Properties>
</file>